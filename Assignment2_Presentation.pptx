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8D6E5"/>
                </a:solidFill>
                <a:latin typeface="Calibri"/>
              </a:rP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560320"/>
            <a:ext cx="12188952" cy="201168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560320"/>
            <a:ext cx="164592" cy="20116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00B4D8"/>
                </a:solidFill>
                <a:latin typeface="Calibri"/>
              </a:rPr>
              <a:t>SOFTWARE PROCESS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Calibri"/>
              </a:rPr>
              <a:t>&amp; TEAM ROLES IN SOFTWARE PROJECTS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1920240"/>
            <a:ext cx="3931920" cy="381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7432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8D6E5"/>
                </a:solidFill>
                <a:latin typeface="Calibri"/>
              </a:rPr>
              <a:t>Assignment 2  |  Software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4612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Group Assignment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749039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8D6E5"/>
                </a:solidFill>
                <a:latin typeface="Calibri"/>
              </a:rPr>
              <a:t>March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12080" y="4754880"/>
            <a:ext cx="201168" cy="20116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4754880"/>
            <a:ext cx="201168" cy="201168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040880" y="4754880"/>
            <a:ext cx="201168" cy="20116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8D6E5"/>
                </a:solidFill>
                <a:latin typeface="Calibri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7160"/>
            <a:ext cx="2194560" cy="4114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  <a:latin typeface="Calibri"/>
              </a:rPr>
              <a:t>OVERVIEW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11457432" cy="381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7043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377440"/>
            <a:ext cx="5394960" cy="82296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2377440"/>
            <a:ext cx="411480" cy="8229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2542032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B2A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60320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Introduction — Why Process Models Matter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2377440"/>
            <a:ext cx="5394960" cy="82296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2377440"/>
            <a:ext cx="411480" cy="82296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542032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B2A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560320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Waterfall Model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337560"/>
            <a:ext cx="5394960" cy="82296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3337560"/>
            <a:ext cx="411480" cy="82296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502152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B2A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20440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Spiral Model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3337560"/>
            <a:ext cx="5394960" cy="82296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0" y="3337560"/>
            <a:ext cx="411480" cy="82296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3502152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B2A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3520440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Agile (Scrum) Model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297680"/>
            <a:ext cx="5394960" cy="82296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4297680"/>
            <a:ext cx="411480" cy="82296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4462272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B2A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4480560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Comparative Analysis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4297680"/>
            <a:ext cx="5394960" cy="82296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0" y="4297680"/>
            <a:ext cx="411480" cy="822960"/>
          </a:xfrm>
          <a:prstGeom prst="rect">
            <a:avLst/>
          </a:prstGeom>
          <a:solidFill>
            <a:srgbClr val="FF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4462272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B2A"/>
                </a:solidFill>
                <a:latin typeface="Calibri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03720" y="4480560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Model → Project Matching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5257800"/>
            <a:ext cx="5394960" cy="82296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5257800"/>
            <a:ext cx="411480" cy="822960"/>
          </a:xfrm>
          <a:prstGeom prst="rect">
            <a:avLst/>
          </a:prstGeom>
          <a:solidFill>
            <a:srgbClr val="C8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5422392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B2A"/>
                </a:solidFill>
                <a:latin typeface="Calibri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" y="5440680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Software Team Roles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5257800"/>
            <a:ext cx="5394960" cy="82296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0" y="5257800"/>
            <a:ext cx="411480" cy="8229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46520" y="5422392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B2A"/>
                </a:solidFill>
                <a:latin typeface="Calibri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03720" y="5440680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Key Takeaways &amp; Q&amp;A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8D6E5"/>
                </a:solidFill>
                <a:latin typeface="Calibri"/>
              </a:rP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7160"/>
            <a:ext cx="2194560" cy="4114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  <a:latin typeface="Calibri"/>
              </a:rPr>
              <a:t>INTRODUCTION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11457432" cy="381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7043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Why Do Process Models Matter?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331720"/>
            <a:ext cx="3566160" cy="201168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3566160" cy="381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514600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E74C3C"/>
                </a:solidFill>
                <a:latin typeface="Calibri"/>
              </a:rPr>
              <a:t>66%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33756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8D6E5"/>
                </a:solidFill>
                <a:latin typeface="Calibri"/>
              </a:rPr>
              <a:t>of projects
experience delays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2331720"/>
            <a:ext cx="3566160" cy="201168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2331720"/>
            <a:ext cx="3566160" cy="381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2514600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E74C3C"/>
                </a:solidFill>
                <a:latin typeface="Calibri"/>
              </a:rPr>
              <a:t>31%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33756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8D6E5"/>
                </a:solidFill>
                <a:latin typeface="Calibri"/>
              </a:rPr>
              <a:t>fail completely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2331720"/>
            <a:ext cx="3566160" cy="201168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2331720"/>
            <a:ext cx="3566160" cy="381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2514600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E74C3C"/>
                </a:solidFill>
                <a:latin typeface="Calibri"/>
              </a:rPr>
              <a:t>53%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33756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8D6E5"/>
                </a:solidFill>
                <a:latin typeface="Calibri"/>
              </a:rPr>
              <a:t>exceed budget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526280"/>
            <a:ext cx="114300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▸ A process model provides structure, guidance, and repeatability</a:t>
            </a:r>
          </a:p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▸ The right model reduces risk, saves cost, and improves quality</a:t>
            </a:r>
          </a:p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▸ Different projects require fundamentally different approaches</a:t>
            </a:r>
          </a:p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▸ Source: Standish Group CHAOS Report 2023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8D6E5"/>
                </a:solidFill>
                <a:latin typeface="Calibri"/>
              </a:rPr>
              <a:t>4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7160"/>
            <a:ext cx="2194560" cy="4114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  <a:latin typeface="Calibri"/>
              </a:rPr>
              <a:t>OVERVIEW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11457432" cy="381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7043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The Three Models We Analysed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2240280"/>
            <a:ext cx="3749039" cy="429768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2240280"/>
            <a:ext cx="3749039" cy="5029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3017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4A90D9"/>
                </a:solidFill>
                <a:latin typeface="Calibri"/>
              </a:rPr>
              <a:t>WATERFALL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27248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8D6E5"/>
                </a:solidFill>
                <a:latin typeface="Calibri"/>
              </a:rPr>
              <a:t>Linear &amp; Sequential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538728"/>
            <a:ext cx="2971800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639312"/>
            <a:ext cx="3017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Stable, well-defined projects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Fixed scope &amp; documentation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Government / enterprise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0248" y="2240280"/>
            <a:ext cx="3749039" cy="429768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0248" y="2240280"/>
            <a:ext cx="3749039" cy="5029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2377440"/>
            <a:ext cx="3017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A623"/>
                </a:solidFill>
                <a:latin typeface="Calibri"/>
              </a:rPr>
              <a:t>SPIRAL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127248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8D6E5"/>
                </a:solidFill>
                <a:latin typeface="Calibri"/>
              </a:rPr>
              <a:t>Iterative + Risk-Focused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64608" y="3538728"/>
            <a:ext cx="2971800" cy="254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64608" y="3639312"/>
            <a:ext cx="3017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Large, complex, high-risk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Requirements evolve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Defense / aerospace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0456" y="2240280"/>
            <a:ext cx="3749039" cy="429768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0456" y="2240280"/>
            <a:ext cx="3749039" cy="50292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14816" y="2377440"/>
            <a:ext cx="3017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ECC71"/>
                </a:solidFill>
                <a:latin typeface="Calibri"/>
              </a:rPr>
              <a:t>AGILE
(SCRUM)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14816" y="3127248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8D6E5"/>
                </a:solidFill>
                <a:latin typeface="Calibri"/>
              </a:rPr>
              <a:t>Iterative &amp; Flexible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14816" y="3538728"/>
            <a:ext cx="2971800" cy="254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14816" y="3639312"/>
            <a:ext cx="3017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Fast-moving requirements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Frequent delivery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Startups / mobile apps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8D6E5"/>
                </a:solidFill>
                <a:latin typeface="Calibri"/>
              </a:rPr>
              <a:t>5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7160"/>
            <a:ext cx="2194560" cy="41148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  <a:latin typeface="Calibri"/>
              </a:rPr>
              <a:t>WATERFALL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11457432" cy="381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7043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Waterfall Model — Phases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874519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8D6E5"/>
                </a:solidFill>
                <a:latin typeface="Calibri"/>
              </a:rPr>
              <a:t>Introduced by Winston Royce (1970) — Linear, sequential, one-directional 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423160"/>
            <a:ext cx="1783080" cy="6858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532888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1  Requirements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12264" y="2624328"/>
            <a:ext cx="9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B4D8"/>
                </a:solidFill>
                <a:latin typeface="Calibri"/>
              </a:rPr>
              <a:t>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3182112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8D6E5"/>
                </a:solidFill>
                <a:latin typeface="Calibri"/>
              </a:rPr>
              <a:t>Gather &amp; document all requirements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76272" y="2423160"/>
            <a:ext cx="1783080" cy="685800"/>
          </a:xfrm>
          <a:prstGeom prst="rect">
            <a:avLst/>
          </a:prstGeom>
          <a:solidFill>
            <a:srgbClr val="5C9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76272" y="2532888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2  System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68496" y="2624328"/>
            <a:ext cx="9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B4D8"/>
                </a:solidFill>
                <a:latin typeface="Calibri"/>
              </a:rPr>
              <a:t>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76272" y="3182112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8D6E5"/>
                </a:solidFill>
                <a:latin typeface="Calibri"/>
              </a:rPr>
              <a:t>Define architecture &amp; technical specs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32504" y="2423160"/>
            <a:ext cx="1783080" cy="685800"/>
          </a:xfrm>
          <a:prstGeom prst="rect">
            <a:avLst/>
          </a:prstGeom>
          <a:solidFill>
            <a:srgbClr val="6EA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32504" y="2532888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3  Implementation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24728" y="2624328"/>
            <a:ext cx="9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B4D8"/>
                </a:solidFill>
                <a:latin typeface="Calibri"/>
              </a:rPr>
              <a:t>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32504" y="3182112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8D6E5"/>
                </a:solidFill>
                <a:latin typeface="Calibri"/>
              </a:rPr>
              <a:t>Write code per design documents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88736" y="2423160"/>
            <a:ext cx="1783080" cy="685800"/>
          </a:xfrm>
          <a:prstGeom prst="rect">
            <a:avLst/>
          </a:prstGeom>
          <a:solidFill>
            <a:srgbClr val="80A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88736" y="2532888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4  Testing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2624328"/>
            <a:ext cx="9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B4D8"/>
                </a:solidFill>
                <a:latin typeface="Calibri"/>
              </a:rPr>
              <a:t>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88736" y="3182112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8D6E5"/>
                </a:solidFill>
                <a:latin typeface="Calibri"/>
              </a:rPr>
              <a:t>Verify system against requirements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44968" y="2423160"/>
            <a:ext cx="1783080" cy="685800"/>
          </a:xfrm>
          <a:prstGeom prst="rect">
            <a:avLst/>
          </a:prstGeom>
          <a:solidFill>
            <a:srgbClr val="92B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44968" y="2532888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5  Deployment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37192" y="2624328"/>
            <a:ext cx="9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B4D8"/>
                </a:solidFill>
                <a:latin typeface="Calibri"/>
              </a:rPr>
              <a:t>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44968" y="3182112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8D6E5"/>
                </a:solidFill>
                <a:latin typeface="Calibri"/>
              </a:rPr>
              <a:t>Deliver product to end users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1200" y="2423160"/>
            <a:ext cx="1783080" cy="685800"/>
          </a:xfrm>
          <a:prstGeom prst="rect">
            <a:avLst/>
          </a:prstGeom>
          <a:solidFill>
            <a:srgbClr val="A4B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0" y="2532888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6  Maintenance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3182112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8D6E5"/>
                </a:solidFill>
                <a:latin typeface="Calibri"/>
              </a:rPr>
              <a:t>Bug fixes &amp; ongoing support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393192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D166"/>
                </a:solidFill>
                <a:latin typeface="Calibri"/>
              </a:rPr>
              <a:t>Key: Every phase must be FULLY COMPLETE before the next begins — no going back.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4434840"/>
            <a:ext cx="11430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▸ Documentation is heavy at every phase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▸ Requirements must be fully defined upfront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▸ Little customer involvement after requirements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▸ Progress measured by phase completion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8D6E5"/>
                </a:solidFill>
                <a:latin typeface="Calibri"/>
              </a:rPr>
              <a:t>6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7160"/>
            <a:ext cx="2194560" cy="41148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  <a:latin typeface="Calibri"/>
              </a:rPr>
              <a:t>WATERFALL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11457432" cy="381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7043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Waterfall — Advantages, Disadvantages &amp; Fit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2194560"/>
            <a:ext cx="3657600" cy="42062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" y="22860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ECC71"/>
                </a:solidFill>
                <a:latin typeface="Calibri"/>
              </a:rPr>
              <a:t>✔  Advantages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65176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Simple and easy to manage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Clear milestones &amp; deliverables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Strong documentation at every phase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Works well with stable requirements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Easy to track progress &amp; costs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2194560"/>
            <a:ext cx="3657600" cy="42062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1688" y="22860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E74C3C"/>
                </a:solidFill>
                <a:latin typeface="Calibri"/>
              </a:rPr>
              <a:t>✘  Disadvantages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8" y="265176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Very inflexible — costly changes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Customer sees product only at the end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High risk if requirements are wrong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Testing happens too late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Outdated requirements likely in long projects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83879" y="2194560"/>
            <a:ext cx="3657600" cy="42062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7" y="22860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D166"/>
                </a:solidFill>
                <a:latin typeface="Calibri"/>
              </a:rPr>
              <a:t>🎯  Best For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7" y="265176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Well-defined, stable requirements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Government &amp; regulatory contracts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Payroll / accounting systems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Short-duration, fixed-scope projects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Projects requiring full documentation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8D6E5"/>
                </a:solidFill>
                <a:latin typeface="Calibri"/>
              </a:rPr>
              <a:t>7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7160"/>
            <a:ext cx="2194560" cy="41148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  <a:latin typeface="Calibri"/>
              </a:rPr>
              <a:t>SPIRAL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11457432" cy="381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7043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Spiral Model — Overview &amp; Phases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874519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8D6E5"/>
                </a:solidFill>
                <a:latin typeface="Calibri"/>
              </a:rPr>
              <a:t>Developed by Barry Boehm (1986) — Combines iterative development with systematic risk management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23160"/>
            <a:ext cx="5486400" cy="196596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423160"/>
            <a:ext cx="5486400" cy="508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603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67E22"/>
                </a:solidFill>
                <a:latin typeface="Calibri"/>
              </a:rPr>
              <a:t>1. PLANNING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017520"/>
            <a:ext cx="5212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Define objectives,
constraints &amp; scope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2423160"/>
            <a:ext cx="5486400" cy="196596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2423160"/>
            <a:ext cx="5486400" cy="508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5603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A623"/>
                </a:solidFill>
                <a:latin typeface="Calibri"/>
              </a:rPr>
              <a:t>2. RISK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017520"/>
            <a:ext cx="5212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Identify risks,
build prototypes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572000"/>
            <a:ext cx="5486400" cy="196596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572000"/>
            <a:ext cx="5486400" cy="50800"/>
          </a:xfrm>
          <a:prstGeom prst="rect">
            <a:avLst/>
          </a:prstGeom>
          <a:solidFill>
            <a:srgbClr val="D3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7091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35A00"/>
                </a:solidFill>
                <a:latin typeface="Calibri"/>
              </a:rPr>
              <a:t>3. ENGINEERING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166360"/>
            <a:ext cx="5212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Design, code &amp; test
the software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4572000"/>
            <a:ext cx="5486400" cy="196596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4572000"/>
            <a:ext cx="5486400" cy="50800"/>
          </a:xfrm>
          <a:prstGeom prst="rect">
            <a:avLst/>
          </a:prstGeom>
          <a:solidFill>
            <a:srgbClr val="FFC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47091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C366"/>
                </a:solidFill>
                <a:latin typeface="Calibri"/>
              </a:rPr>
              <a:t>4. EVALUATION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5166360"/>
            <a:ext cx="5212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Customer reviews,
feedback gathered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9240" y="3108960"/>
            <a:ext cx="1463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5A623"/>
                </a:solidFill>
                <a:latin typeface="Calibri"/>
              </a:rPr>
              <a:t>↻
Repeat
per spiral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8D6E5"/>
                </a:solidFill>
                <a:latin typeface="Calibri"/>
              </a:rPr>
              <a:t>8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7160"/>
            <a:ext cx="2194560" cy="41148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  <a:latin typeface="Calibri"/>
              </a:rPr>
              <a:t>SPIRAL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11457432" cy="381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7043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Spiral — Advantages, Disadvantages &amp; Fit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2194560"/>
            <a:ext cx="3657600" cy="42062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" y="22860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ECC71"/>
                </a:solidFill>
                <a:latin typeface="Calibri"/>
              </a:rPr>
              <a:t>✔  Advantages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65176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Excellent, continuous risk management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Flexible — new requirements per spiral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Prototyping reduces wrong-product risk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Strong customer involvement each cycle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Scales to very large systems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2194560"/>
            <a:ext cx="3657600" cy="42062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1688" y="22860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E74C3C"/>
                </a:solidFill>
                <a:latin typeface="Calibri"/>
              </a:rPr>
              <a:t>✘  Disadvantages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8" y="265176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Very expensive &amp; resource-intensive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Requires specialized risk expertise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Complex to plan and manage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Not suitable for small projects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Can spiral indefinitely if uncontrolled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83879" y="2194560"/>
            <a:ext cx="3657600" cy="42062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7" y="22860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D166"/>
                </a:solidFill>
                <a:latin typeface="Calibri"/>
              </a:rPr>
              <a:t>🎯  Best For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7" y="265176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Large-scale, high-risk systems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Defense &amp; aerospace software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Multi-year, large-budget projects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Unclear or evolving requirements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Projects needing multiple prototypes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8D6E5"/>
                </a:solidFill>
                <a:latin typeface="Calibri"/>
              </a:rPr>
              <a:t>9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7160"/>
            <a:ext cx="2194560" cy="4114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  <a:latin typeface="Calibri"/>
              </a:rPr>
              <a:t>AGILE — SCRUM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11457432" cy="381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7043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Agile (Scrum) — Overview &amp; Sprint Cycle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874519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8D6E5"/>
                </a:solidFill>
                <a:latin typeface="Calibri"/>
              </a:rPr>
              <a:t>Agile Manifesto (2001) | Scrum is the world's most used Agile framework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468880"/>
            <a:ext cx="2011680" cy="1234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697480"/>
            <a:ext cx="2011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Product
Backlog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0864" y="288036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2ECC71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96312" y="2468880"/>
            <a:ext cx="2011680" cy="123444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96312" y="2697480"/>
            <a:ext cx="2011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Sprint
Planning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7136" y="288036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2ECC71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72584" y="2468880"/>
            <a:ext cx="2011680" cy="123444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72584" y="2697480"/>
            <a:ext cx="2011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SPRINT
(1–4 weeks)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3408" y="288036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2ECC71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48856" y="2468880"/>
            <a:ext cx="2011680" cy="123444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48856" y="2697480"/>
            <a:ext cx="2011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Sprint
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88036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2ECC71"/>
                </a:solidFill>
                <a:latin typeface="Calibri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25128" y="2468880"/>
            <a:ext cx="2011680" cy="1234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25128" y="2697480"/>
            <a:ext cx="2011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Sprint
Retro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" y="38404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ECC71"/>
                </a:solidFill>
                <a:latin typeface="Calibri"/>
              </a:rPr>
              <a:t>↺  Repeat until backlog is complete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4343400"/>
            <a:ext cx="3749039" cy="21488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4805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CC71"/>
                </a:solidFill>
                <a:latin typeface="Calibri"/>
              </a:rPr>
              <a:t>Product Owner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919472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Manages backlog,
represents customer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70248" y="4343400"/>
            <a:ext cx="3749039" cy="21488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07408" y="44805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CC71"/>
                </a:solidFill>
                <a:latin typeface="Calibri"/>
              </a:rPr>
              <a:t>Scrum Master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07408" y="4919472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Facilitates process,
removes blockers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0456" y="4343400"/>
            <a:ext cx="3749039" cy="21488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57616" y="44805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CC71"/>
                </a:solidFill>
                <a:latin typeface="Calibri"/>
              </a:rPr>
              <a:t>Dev Team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57616" y="4919472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Self-organizing team
that builds the product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8D6E5"/>
                </a:solidFill>
                <a:latin typeface="Calibri"/>
              </a:rPr>
              <a:t>10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7160"/>
            <a:ext cx="2194560" cy="4114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  <a:latin typeface="Calibri"/>
              </a:rPr>
              <a:t>AGILE — SCRUM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11457432" cy="381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7043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Scrum — Advantages, Disadvantages &amp; Fit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2194560"/>
            <a:ext cx="3657600" cy="42062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" y="22860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ECC71"/>
                </a:solidFill>
                <a:latin typeface="Calibri"/>
              </a:rPr>
              <a:t>✔  Advantages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65176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Highly flexible — changes any time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Working software every sprint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Continuous customer feedback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High team collaboration &amp; morale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Faster time-to-market for core features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2194560"/>
            <a:ext cx="3657600" cy="42062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1688" y="22860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E74C3C"/>
                </a:solidFill>
                <a:latin typeface="Calibri"/>
              </a:rPr>
              <a:t>✘  Disadvantages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8" y="265176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Hard to predict final cost upfront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Needs constant customer involvement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Risk of scope creep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Minimal docs — maintenance issues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Difficult to scale without frameworks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83879" y="2194560"/>
            <a:ext cx="3657600" cy="42062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7" y="22860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D166"/>
                </a:solidFill>
                <a:latin typeface="Calibri"/>
              </a:rPr>
              <a:t>🎯  Best For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7" y="265176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Startups &amp; evolving requirements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Mobile &amp; web applications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Small cross-functional teams (5–12)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Rapid delivery &amp; frequent releases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Customer-facing digital products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8D6E5"/>
                </a:solidFill>
                <a:latin typeface="Calibri"/>
              </a:rPr>
              <a:t>11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7160"/>
            <a:ext cx="2194560" cy="4114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  <a:latin typeface="Calibri"/>
              </a:rPr>
              <a:t>COMPARATIVE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11457432" cy="381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7043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Side-by-Side Comparison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2103120"/>
            <a:ext cx="2377440" cy="475488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" y="216712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Criteria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2103120"/>
            <a:ext cx="2880360" cy="475488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16352" y="2167128"/>
            <a:ext cx="2788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  <a:latin typeface="Calibri"/>
              </a:rPr>
              <a:t>Waterfall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2103120"/>
            <a:ext cx="2880360" cy="47548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42432" y="2167128"/>
            <a:ext cx="2788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  <a:latin typeface="Calibri"/>
              </a:rPr>
              <a:t>Spiral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77072" y="2103120"/>
            <a:ext cx="2880360" cy="47548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50224" y="2167128"/>
            <a:ext cx="2788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  <a:latin typeface="Calibri"/>
              </a:rPr>
              <a:t>Agile (Scrum)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578608"/>
            <a:ext cx="2377440" cy="541528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" y="2670048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Flexibility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0" y="2578608"/>
            <a:ext cx="2880360" cy="541528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16352" y="2670048"/>
            <a:ext cx="2788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74C3C"/>
                </a:solidFill>
                <a:latin typeface="Calibri"/>
              </a:rPr>
              <a:t>Low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0" y="2578608"/>
            <a:ext cx="2880360" cy="541528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42432" y="2670048"/>
            <a:ext cx="2788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5A623"/>
                </a:solidFill>
                <a:latin typeface="Calibri"/>
              </a:rPr>
              <a:t>Medium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77072" y="2578608"/>
            <a:ext cx="2880360" cy="541528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50224" y="2670048"/>
            <a:ext cx="2788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7AE60"/>
                </a:solidFill>
                <a:latin typeface="Calibri"/>
              </a:rPr>
              <a:t>High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3145536"/>
            <a:ext cx="2377440" cy="541528"/>
          </a:xfrm>
          <a:prstGeom prst="rect">
            <a:avLst/>
          </a:prstGeom>
          <a:solidFill>
            <a:srgbClr val="162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3192" y="3236976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Risk Handling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0" y="3145536"/>
            <a:ext cx="2880360" cy="541528"/>
          </a:xfrm>
          <a:prstGeom prst="rect">
            <a:avLst/>
          </a:prstGeom>
          <a:solidFill>
            <a:srgbClr val="162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16352" y="3236976"/>
            <a:ext cx="2788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74C3C"/>
                </a:solidFill>
                <a:latin typeface="Calibri"/>
              </a:rPr>
              <a:t>Poor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0" y="3145536"/>
            <a:ext cx="2880360" cy="541528"/>
          </a:xfrm>
          <a:prstGeom prst="rect">
            <a:avLst/>
          </a:prstGeom>
          <a:solidFill>
            <a:srgbClr val="162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42432" y="3236976"/>
            <a:ext cx="2788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7AE60"/>
                </a:solidFill>
                <a:latin typeface="Calibri"/>
              </a:rPr>
              <a:t>Excellent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77072" y="3145536"/>
            <a:ext cx="2880360" cy="541528"/>
          </a:xfrm>
          <a:prstGeom prst="rect">
            <a:avLst/>
          </a:prstGeom>
          <a:solidFill>
            <a:srgbClr val="162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50224" y="3236976"/>
            <a:ext cx="2788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7AE60"/>
                </a:solidFill>
                <a:latin typeface="Calibri"/>
              </a:rPr>
              <a:t>Good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3712464"/>
            <a:ext cx="2377440" cy="541528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3192" y="3803904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Customer Involvement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0" y="3712464"/>
            <a:ext cx="2880360" cy="541528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16352" y="3803904"/>
            <a:ext cx="2788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74C3C"/>
                </a:solidFill>
                <a:latin typeface="Calibri"/>
              </a:rPr>
              <a:t>Low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0" y="3712464"/>
            <a:ext cx="2880360" cy="541528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42432" y="3803904"/>
            <a:ext cx="2788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5A623"/>
                </a:solidFill>
                <a:latin typeface="Calibri"/>
              </a:rPr>
              <a:t>Medium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577072" y="3712464"/>
            <a:ext cx="2880360" cy="541528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50224" y="3803904"/>
            <a:ext cx="2788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7AE60"/>
                </a:solidFill>
                <a:latin typeface="Calibri"/>
              </a:rPr>
              <a:t>High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4279392"/>
            <a:ext cx="2377440" cy="541528"/>
          </a:xfrm>
          <a:prstGeom prst="rect">
            <a:avLst/>
          </a:prstGeom>
          <a:solidFill>
            <a:srgbClr val="162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3192" y="4370832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Documentation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0" y="4279392"/>
            <a:ext cx="2880360" cy="541528"/>
          </a:xfrm>
          <a:prstGeom prst="rect">
            <a:avLst/>
          </a:prstGeom>
          <a:solidFill>
            <a:srgbClr val="162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16352" y="4370832"/>
            <a:ext cx="2788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7AE60"/>
                </a:solidFill>
                <a:latin typeface="Calibri"/>
              </a:rPr>
              <a:t>Very High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280" y="4279392"/>
            <a:ext cx="2880360" cy="541528"/>
          </a:xfrm>
          <a:prstGeom prst="rect">
            <a:avLst/>
          </a:prstGeom>
          <a:solidFill>
            <a:srgbClr val="162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42432" y="4370832"/>
            <a:ext cx="2788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7AE60"/>
                </a:solidFill>
                <a:latin typeface="Calibri"/>
              </a:rPr>
              <a:t>High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77072" y="4279392"/>
            <a:ext cx="2880360" cy="541528"/>
          </a:xfrm>
          <a:prstGeom prst="rect">
            <a:avLst/>
          </a:prstGeom>
          <a:solidFill>
            <a:srgbClr val="162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50224" y="4370832"/>
            <a:ext cx="2788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74C3C"/>
                </a:solidFill>
                <a:latin typeface="Calibri"/>
              </a:rPr>
              <a:t>Low–Medium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" y="4846320"/>
            <a:ext cx="2377440" cy="541528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93192" y="4937760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Team Size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0" y="4846320"/>
            <a:ext cx="2880360" cy="541528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16352" y="4937760"/>
            <a:ext cx="2788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Any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669280" y="4846320"/>
            <a:ext cx="2880360" cy="541528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42432" y="4937760"/>
            <a:ext cx="2788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Large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577072" y="4846320"/>
            <a:ext cx="2880360" cy="541528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650224" y="4937760"/>
            <a:ext cx="2788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5A623"/>
                </a:solidFill>
                <a:latin typeface="Calibri"/>
              </a:rPr>
              <a:t>Small–Medium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0040" y="5413248"/>
            <a:ext cx="2377440" cy="541528"/>
          </a:xfrm>
          <a:prstGeom prst="rect">
            <a:avLst/>
          </a:prstGeom>
          <a:solidFill>
            <a:srgbClr val="162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93192" y="5504688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Project Size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743200" y="5413248"/>
            <a:ext cx="2880360" cy="541528"/>
          </a:xfrm>
          <a:prstGeom prst="rect">
            <a:avLst/>
          </a:prstGeom>
          <a:solidFill>
            <a:srgbClr val="162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816352" y="5504688"/>
            <a:ext cx="2788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5A623"/>
                </a:solidFill>
                <a:latin typeface="Calibri"/>
              </a:rPr>
              <a:t>Small–Medium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69280" y="5413248"/>
            <a:ext cx="2880360" cy="541528"/>
          </a:xfrm>
          <a:prstGeom prst="rect">
            <a:avLst/>
          </a:prstGeom>
          <a:solidFill>
            <a:srgbClr val="162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742432" y="5504688"/>
            <a:ext cx="2788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Large–Very Large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577072" y="5413248"/>
            <a:ext cx="2880360" cy="541528"/>
          </a:xfrm>
          <a:prstGeom prst="rect">
            <a:avLst/>
          </a:prstGeom>
          <a:solidFill>
            <a:srgbClr val="162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650224" y="5504688"/>
            <a:ext cx="2788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5A623"/>
                </a:solidFill>
                <a:latin typeface="Calibri"/>
              </a:rPr>
              <a:t>Small–Medium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20040" y="5980176"/>
            <a:ext cx="2377440" cy="541528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93192" y="6071616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Cost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743200" y="5980176"/>
            <a:ext cx="2880360" cy="541528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816352" y="6071616"/>
            <a:ext cx="2788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74C3C"/>
                </a:solidFill>
                <a:latin typeface="Calibri"/>
              </a:rPr>
              <a:t>Low upfront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69280" y="5980176"/>
            <a:ext cx="2880360" cy="541528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742432" y="6071616"/>
            <a:ext cx="2788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7AE60"/>
                </a:solidFill>
                <a:latin typeface="Calibri"/>
              </a:rPr>
              <a:t>High overall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577072" y="5980176"/>
            <a:ext cx="2880360" cy="541528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650224" y="6071616"/>
            <a:ext cx="2788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Moderate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8D6E5"/>
                </a:solidFill>
                <a:latin typeface="Calibri"/>
              </a:rPr>
              <a:t>12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7160"/>
            <a:ext cx="2194560" cy="4114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  <a:latin typeface="Calibri"/>
              </a:rPr>
              <a:t>MODEL SELECTION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11457432" cy="381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7043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Matching the Right Model to the Right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874519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8D6E5"/>
                </a:solidFill>
                <a:latin typeface="Calibri"/>
              </a:rPr>
              <a:t>Three real-world project types — which process model fits best?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514600"/>
            <a:ext cx="3749039" cy="347472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2514600"/>
            <a:ext cx="3749039" cy="508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2697480"/>
            <a:ext cx="374903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0" i="0">
                <a:solidFill>
                  <a:srgbClr val="FFFFFF"/>
                </a:solidFill>
                <a:latin typeface="Calibri"/>
              </a:rPr>
              <a:t>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5204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A90D9"/>
                </a:solidFill>
                <a:latin typeface="Calibri"/>
              </a:rPr>
              <a:t>Banking System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2336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C8D6E5"/>
                </a:solidFill>
                <a:latin typeface="Calibri"/>
              </a:rPr>
              <a:t>Complex, regulated, mission-critical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0248" y="2514600"/>
            <a:ext cx="3749039" cy="347472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0248" y="2514600"/>
            <a:ext cx="3749039" cy="508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70248" y="2697480"/>
            <a:ext cx="374903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0" i="0">
                <a:solidFill>
                  <a:srgbClr val="FFFFFF"/>
                </a:solidFill>
                <a:latin typeface="Calibri"/>
              </a:rPr>
              <a:t>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35204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ECC71"/>
                </a:solidFill>
                <a:latin typeface="Calibri"/>
              </a:rPr>
              <a:t>Mobile Startup App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402336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C8D6E5"/>
                </a:solidFill>
                <a:latin typeface="Calibri"/>
              </a:rPr>
              <a:t>Fast-moving, evolving, MVP-driven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0456" y="2514600"/>
            <a:ext cx="3749039" cy="347472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0456" y="2514600"/>
            <a:ext cx="3749039" cy="508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0456" y="2697480"/>
            <a:ext cx="374903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0" i="0">
                <a:solidFill>
                  <a:srgbClr val="FFFFFF"/>
                </a:solidFill>
                <a:latin typeface="Calibri"/>
              </a:rPr>
              <a:t>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7616" y="35204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5A623"/>
                </a:solidFill>
                <a:latin typeface="Calibri"/>
              </a:rPr>
              <a:t>Government Defense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7616" y="402336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C8D6E5"/>
                </a:solidFill>
                <a:latin typeface="Calibri"/>
              </a:rPr>
              <a:t>High-risk, large-scale, safety-critical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263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C8D6E5"/>
                </a:solidFill>
                <a:latin typeface="Calibri"/>
              </a:rPr>
              <a:t>→  See next three slides for detailed justification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8D6E5"/>
                </a:solidFill>
                <a:latin typeface="Calibri"/>
              </a:rPr>
              <a:t>13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7160"/>
            <a:ext cx="2194560" cy="41148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  <a:latin typeface="Calibri"/>
              </a:rPr>
              <a:t>MODEL SELECTION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11457432" cy="381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7043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Banking System  →  Waterfall (+ Spiral risk elements)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2194560"/>
            <a:ext cx="5760720" cy="425196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331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A90D9"/>
                </a:solidFill>
                <a:latin typeface="Calibri"/>
              </a:rPr>
              <a:t>Why Waterfall?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5486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▸ Requirements defined upfront by legal/regulatory teams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▸ Strict compliance needs heavy documentation (PCI-DSS, Basel III)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▸ Changes to live banking systems are tightly controlled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▸ Auditors need clear records of every development phase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▸ Structured phase-gates enable formal compliance reviews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2194560"/>
            <a:ext cx="5577840" cy="425196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3317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A623"/>
                </a:solidFill>
                <a:latin typeface="Calibri"/>
              </a:rPr>
              <a:t>Why add Spiral elements?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834640"/>
            <a:ext cx="5303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Complex banking modules (core engine, fraud detection) benefit from Spiral risk analysis to prevent costly failures before full-scale build.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2062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D166"/>
                </a:solidFill>
                <a:latin typeface="Calibri"/>
              </a:rPr>
              <a:t>Real-World Example: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590288"/>
            <a:ext cx="53035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JPMorgan Chase and HSBC use structured, plan-driven processes with rigorous documentation, regulatory sign-offs, and formal audit trails for all core banking system upgrades.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8D6E5"/>
                </a:solidFill>
                <a:latin typeface="Calibri"/>
              </a:rPr>
              <a:t>14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7160"/>
            <a:ext cx="2194560" cy="4114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  <a:latin typeface="Calibri"/>
              </a:rPr>
              <a:t>MODEL SELECTION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11457432" cy="381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7043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Mobile Startup App  →  Agile (Scrum)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2194560"/>
            <a:ext cx="5760720" cy="425196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331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ECC71"/>
                </a:solidFill>
                <a:latin typeface="Calibri"/>
              </a:rPr>
              <a:t>Why Scrum?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5486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▸ Requirements evolve rapidly based on user feedback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▸ Need to ship an MVP quickly to validate the business idea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▸ Small cross-functional team — ideal Scrum environment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▸ Investors want frequent, tangible progress (sprint demos)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▸ Market changes fast — Agile lets the team pivot quickly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2194560"/>
            <a:ext cx="5577840" cy="425196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3317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4C3C"/>
                </a:solidFill>
                <a:latin typeface="Calibri"/>
              </a:rPr>
              <a:t>Why NOT Waterfall?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8346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A startup using Waterfall would invest months writing specs for a product that is already obsolete by launch day. You must learn while building.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114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D166"/>
                </a:solidFill>
                <a:latin typeface="Calibri"/>
              </a:rPr>
              <a:t>Real-World Example: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526280"/>
            <a:ext cx="5303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Instagram launched with only photo sharing. Stories, Reels, and DMs were all added in subsequent Agile iterations driven by user behavior and competitive pressure — the product evolved sprint by sprint.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8D6E5"/>
                </a:solidFill>
                <a:latin typeface="Calibri"/>
              </a:rPr>
              <a:t>15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7160"/>
            <a:ext cx="2194560" cy="41148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  <a:latin typeface="Calibri"/>
              </a:rPr>
              <a:t>MODEL SELECTION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11457432" cy="381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7043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Government Defense System  →  Spiral Model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2194560"/>
            <a:ext cx="5760720" cy="425196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331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A623"/>
                </a:solidFill>
                <a:latin typeface="Calibri"/>
              </a:rPr>
              <a:t>Why Spiral?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5486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▸ Continuous risk analysis is essential — failure can cost lives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▸ Requirements are complex and not fully known at project start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▸ Prototypes allow evaluation before full-scale commitment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▸ Scales to multi-year, multi-team, large-budget programs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▸ Aligns with defense standards: MIL-STD, DO-178C (avionics)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2194560"/>
            <a:ext cx="5577840" cy="425196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3317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4C3C"/>
                </a:solidFill>
                <a:latin typeface="Calibri"/>
              </a:rPr>
              <a:t>Why NOT Agile or Waterfall?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83464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Agile lacks the rigor and documentation required by defense procurement standards. Waterfall is too inflexible for a decades-long project where technology and threat landscapes continuously change.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2976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D166"/>
                </a:solidFill>
                <a:latin typeface="Calibri"/>
              </a:rPr>
              <a:t>Real-World Example: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709160"/>
            <a:ext cx="5303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The F-35 fighter jet software (14+ million lines of code) used an iterative, risk-managed development approach spanning decades, with multiple prototype evaluations before each major system increment.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8D6E5"/>
                </a:solidFill>
                <a:latin typeface="Calibri"/>
              </a:rPr>
              <a:t>16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7160"/>
            <a:ext cx="2194560" cy="4114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  <a:latin typeface="Calibri"/>
              </a:rPr>
              <a:t>TEAM ROLES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11457432" cy="381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7043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The People Behind the Software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874519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8D6E5"/>
                </a:solidFill>
                <a:latin typeface="Calibri"/>
              </a:rPr>
              <a:t>A successful project needs the right people in the right roles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560320"/>
            <a:ext cx="3657600" cy="16916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2560320"/>
            <a:ext cx="76200" cy="169164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697480"/>
            <a:ext cx="3429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9B59B6"/>
                </a:solidFill>
                <a:latin typeface="Calibri"/>
              </a:rPr>
              <a:t>Project Manager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246120"/>
            <a:ext cx="3429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Plans, tracks &amp; delivers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79" y="2560320"/>
            <a:ext cx="3657600" cy="16916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79" y="2560320"/>
            <a:ext cx="76200" cy="169164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59" y="2697480"/>
            <a:ext cx="3429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3498DB"/>
                </a:solidFill>
                <a:latin typeface="Calibri"/>
              </a:rPr>
              <a:t>Software Architect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59" y="3246120"/>
            <a:ext cx="3429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Designs system structure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75318" y="2560320"/>
            <a:ext cx="3657600" cy="16916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75318" y="2560320"/>
            <a:ext cx="76200" cy="16916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198" y="2697480"/>
            <a:ext cx="3429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7AE60"/>
                </a:solidFill>
                <a:latin typeface="Calibri"/>
              </a:rPr>
              <a:t>Developer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198" y="3246120"/>
            <a:ext cx="3429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Writes production code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4480560"/>
            <a:ext cx="3657600" cy="16916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0040" y="4480560"/>
            <a:ext cx="76200" cy="16916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617720"/>
            <a:ext cx="3429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E74C3C"/>
                </a:solidFill>
                <a:latin typeface="Calibri"/>
              </a:rPr>
              <a:t>QA Engineer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166360"/>
            <a:ext cx="3429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Tests &amp; ensures quality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79" y="4480560"/>
            <a:ext cx="3657600" cy="16916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97679" y="4480560"/>
            <a:ext cx="76200" cy="16916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80559" y="4617720"/>
            <a:ext cx="3429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39C12"/>
                </a:solidFill>
                <a:latin typeface="Calibri"/>
              </a:rPr>
              <a:t>Business Analyst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59" y="5166360"/>
            <a:ext cx="3429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Bridges biz ↔ tech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75318" y="4480560"/>
            <a:ext cx="3657600" cy="16916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75318" y="4480560"/>
            <a:ext cx="76200" cy="16916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58198" y="4617720"/>
            <a:ext cx="3429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B4D8"/>
                </a:solidFill>
                <a:latin typeface="Calibri"/>
              </a:rPr>
              <a:t>DevOps Engineer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58198" y="5166360"/>
            <a:ext cx="3429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Automates delivery pipeline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8D6E5"/>
                </a:solidFill>
                <a:latin typeface="Calibri"/>
              </a:rPr>
              <a:t>17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7160"/>
            <a:ext cx="2194560" cy="41148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  <a:latin typeface="Calibri"/>
              </a:rPr>
              <a:t>ROLE 1 — PROJECT MANAGER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11457432" cy="381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7043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Project Manager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2103120"/>
            <a:ext cx="3703320" cy="448056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" y="219456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9B59B6"/>
                </a:solidFill>
                <a:latin typeface="Calibri"/>
              </a:rPr>
              <a:t>Responsibilities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560320"/>
            <a:ext cx="3520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Plans scope, timeline and budget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Allocates resources &amp; manages schedule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Identifies and mitigates project risks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Primary contact between team &amp; stakeholders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Tracks progress &amp; ensures quality deliverables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60520" y="2103120"/>
            <a:ext cx="3566160" cy="210312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70248" y="21945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9B59B6"/>
                </a:solidFill>
                <a:latin typeface="Calibri"/>
              </a:rPr>
              <a:t>Required Skills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70248" y="2560320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Leadership &amp; communication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Risk management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Jira / MS Project / Trello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Budgeting &amp; resource planning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SDLC knowledge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0520" y="4343400"/>
            <a:ext cx="3566160" cy="224028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4480560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B59B6"/>
                </a:solidFill>
                <a:latin typeface="Calibri"/>
              </a:rPr>
              <a:t>Contribution to Success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4956048"/>
            <a:ext cx="33375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Keeps the team on track, within budget, and aligned with business goals. Without effective PM, projects suffer scope creep, missed deadlines, and miscommunication.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0" y="2103120"/>
            <a:ext cx="3977639" cy="448056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240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166"/>
                </a:solidFill>
                <a:latin typeface="Calibri"/>
              </a:rPr>
              <a:t>Real-World Example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272491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B59B6"/>
                </a:solidFill>
                <a:latin typeface="Calibri"/>
              </a:rPr>
              <a:t>Microsoft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315468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PMs at Microsoft coordinate across hundreds of engineers to deliver Windows updates on schedule, managing cross-team dependencies and resolving blockers to keep all workstreams aligned.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8D6E5"/>
                </a:solidFill>
                <a:latin typeface="Calibri"/>
              </a:rPr>
              <a:t>18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7160"/>
            <a:ext cx="2194560" cy="41148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  <a:latin typeface="Calibri"/>
              </a:rPr>
              <a:t>ROLE 2 — SOFTWARE ARCHITECT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11457432" cy="381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7043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Software Architect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2103120"/>
            <a:ext cx="3703320" cy="448056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" y="219456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3498DB"/>
                </a:solidFill>
                <a:latin typeface="Calibri"/>
              </a:rPr>
              <a:t>Responsibilities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560320"/>
            <a:ext cx="3520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Designs overall system structure &amp; architecture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Makes high-level technology decisions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Establishes coding &amp; architectural guidelines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Evaluates trade-offs between design approaches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Mentors developers on architectural patterns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60520" y="2103120"/>
            <a:ext cx="3566160" cy="210312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70248" y="21945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3498DB"/>
                </a:solidFill>
                <a:latin typeface="Calibri"/>
              </a:rPr>
              <a:t>Required Skills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70248" y="2560320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Design patterns (MVC, microservices)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System integration &amp; API design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Multiple languages &amp; platforms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Analytical &amp; problem-solving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Communication with non-technical stakeholders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0520" y="4343400"/>
            <a:ext cx="3566160" cy="224028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4480560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498DB"/>
                </a:solidFill>
                <a:latin typeface="Calibri"/>
              </a:rPr>
              <a:t>Contribution to Success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4956048"/>
            <a:ext cx="33375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Prevents costly structural mistakes before implementation. A poor architecture leads to technical debt, performance issues, and systems that can't scale or be maintained.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0" y="2103120"/>
            <a:ext cx="3977639" cy="448056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240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166"/>
                </a:solidFill>
                <a:latin typeface="Calibri"/>
              </a:rPr>
              <a:t>Real-World Example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272491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498DB"/>
                </a:solidFill>
                <a:latin typeface="Calibri"/>
              </a:rPr>
              <a:t>Netflix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315468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Netflix architects designed the transition from a monolithic DVD rental platform to a highly available, globally distributed microservices architecture — the foundation that allows 200M+ users to stream simultaneously with high reliability.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8D6E5"/>
                </a:solidFill>
                <a:latin typeface="Calibri"/>
              </a:rPr>
              <a:t>19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7160"/>
            <a:ext cx="2194560" cy="4114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  <a:latin typeface="Calibri"/>
              </a:rPr>
              <a:t>ROLE 3 — DEVELOPER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11457432" cy="381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7043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Developer (Software Engineer)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2103120"/>
            <a:ext cx="3703320" cy="448056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" y="219456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7AE60"/>
                </a:solidFill>
                <a:latin typeface="Calibri"/>
              </a:rPr>
              <a:t>Responsibilities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560320"/>
            <a:ext cx="3520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Writes, tests &amp; maintains application code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Translates user stories into working features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Performs code reviews with teammates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Debugs and resolves software defects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Participates in sprint planning &amp; design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60520" y="2103120"/>
            <a:ext cx="3566160" cy="210312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70248" y="21945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7AE60"/>
                </a:solidFill>
                <a:latin typeface="Calibri"/>
              </a:rPr>
              <a:t>Required Skills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70248" y="2560320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Programming languages (Python, Java, JS)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Data structures &amp; algorithms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Git &amp; version control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Unit testing &amp; code review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Problem-solving &amp; attention to detail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0520" y="4343400"/>
            <a:ext cx="3566160" cy="224028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4480560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7AE60"/>
                </a:solidFill>
                <a:latin typeface="Calibri"/>
              </a:rPr>
              <a:t>Contribution to Success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4956048"/>
            <a:ext cx="33375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Converts requirements and designs into a working product. Technical skill, collaboration, and adherence to coding standards directly determine software quality and maintainability.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0" y="2103120"/>
            <a:ext cx="3977639" cy="448056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240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166"/>
                </a:solidFill>
                <a:latin typeface="Calibri"/>
              </a:rPr>
              <a:t>Real-World Example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272491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7AE60"/>
                </a:solidFill>
                <a:latin typeface="Calibri"/>
              </a:rPr>
              <a:t>Google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315468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Google engineers use mandatory peer code review via Gerrit before any code is merged. This engineering culture is a key reason Google's products handle billions of requests per day with minimal downtime.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8D6E5"/>
                </a:solidFill>
                <a:latin typeface="Calibri"/>
              </a:rPr>
              <a:t>20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7160"/>
            <a:ext cx="2194560" cy="41148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  <a:latin typeface="Calibri"/>
              </a:rPr>
              <a:t>ROLE 4 — QA ENGINEER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11457432" cy="381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7043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QA Engineer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2103120"/>
            <a:ext cx="3703320" cy="448056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" y="219456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E74C3C"/>
                </a:solidFill>
                <a:latin typeface="Calibri"/>
              </a:rPr>
              <a:t>Responsibilities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560320"/>
            <a:ext cx="3520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Designs and executes test plans &amp; test cases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Performs manual and automated testing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Documents and tracks defects to resolution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Verifies functional &amp; non-functional requirements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Ensures performance, usability &amp; security standards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60520" y="2103120"/>
            <a:ext cx="3566160" cy="210312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70248" y="21945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E74C3C"/>
                </a:solidFill>
                <a:latin typeface="Calibri"/>
              </a:rPr>
              <a:t>Required Skills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70248" y="2560320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Selenium, JUnit, Postman, JMeter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Analytical thinking &amp; attention to detail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Bug tracking (Jira, Bugzilla)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Test automation scripting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SDLC &amp; testing methodologies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0520" y="4343400"/>
            <a:ext cx="3566160" cy="224028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4480560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4C3C"/>
                </a:solidFill>
                <a:latin typeface="Calibri"/>
              </a:rPr>
              <a:t>Contribution to Success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4956048"/>
            <a:ext cx="33375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Acts as the safety net of the project. By catching defects before the software reaches users, QA protects the organization from costly post-release failures, reputational damage, and security breaches.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0" y="2103120"/>
            <a:ext cx="3977639" cy="448056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240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166"/>
                </a:solidFill>
                <a:latin typeface="Calibri"/>
              </a:rPr>
              <a:t>Real-World Example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272491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74C3C"/>
                </a:solidFill>
                <a:latin typeface="Calibri"/>
              </a:rPr>
              <a:t>Amazon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315468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Amazon QA teams use automated testing pipelines and chaos engineering (deliberately injecting failures) to verify platform stability under extreme conditions — supporting thousands of deployments per day without major outages.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8D6E5"/>
                </a:solidFill>
                <a:latin typeface="Calibri"/>
              </a:rPr>
              <a:t>21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7160"/>
            <a:ext cx="2194560" cy="41148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  <a:latin typeface="Calibri"/>
              </a:rPr>
              <a:t>ROLE 5 — BUSINESS ANALYST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11457432" cy="381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7043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Business Analyst (BA)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2103120"/>
            <a:ext cx="3703320" cy="448056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" y="219456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39C12"/>
                </a:solidFill>
                <a:latin typeface="Calibri"/>
              </a:rPr>
              <a:t>Responsibilities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560320"/>
            <a:ext cx="3520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Elicits &amp; documents business requirements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Translates business needs into technical specs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Creates user stories, use cases &amp; process flows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Bridges the gap between business &amp; tech teams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Validates delivered software meets business goals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60520" y="2103120"/>
            <a:ext cx="3566160" cy="210312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70248" y="21945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39C12"/>
                </a:solidFill>
                <a:latin typeface="Calibri"/>
              </a:rPr>
              <a:t>Required Skills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70248" y="2560320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Communication &amp; facilitation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UML / BPMN process modeling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Requirements elicitation techniques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Analytical &amp; critical thinking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Understanding of both business &amp; software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0520" y="4343400"/>
            <a:ext cx="3566160" cy="224028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4480560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39C12"/>
                </a:solidFill>
                <a:latin typeface="Calibri"/>
              </a:rPr>
              <a:t>Contribution to Success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4956048"/>
            <a:ext cx="33375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Ensures the team builds the RIGHT product — not just a technically correct one. Misunderstood requirements are a leading cause of project failure; the BA prevents this.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0" y="2103120"/>
            <a:ext cx="3977639" cy="448056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240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166"/>
                </a:solidFill>
                <a:latin typeface="Calibri"/>
              </a:rPr>
              <a:t>Real-World Example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272491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JPMorgan Chase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315468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BAs at JPMorgan Chase translate complex regulatory changes (e.g., new Basel IV reporting rules) into detailed functional specifications that engineering teams use to update the bank's core systems — bridging compliance and technology.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8D6E5"/>
                </a:solidFill>
                <a:latin typeface="Calibri"/>
              </a:rPr>
              <a:t>22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7160"/>
            <a:ext cx="2194560" cy="4114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  <a:latin typeface="Calibri"/>
              </a:rPr>
              <a:t>ROLE 6 — DEVOPS ENGINEER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11457432" cy="381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7043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DevOps Engineer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2103120"/>
            <a:ext cx="3703320" cy="448056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" y="219456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B4D8"/>
                </a:solidFill>
                <a:latin typeface="Calibri"/>
              </a:rPr>
              <a:t>Responsibilities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560320"/>
            <a:ext cx="3520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Builds &amp; maintains CI/CD pipelines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Manages cloud infrastructure (AWS, Azure, GCP)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Automates build, test &amp; deployment processes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Monitors performance &amp; availability in production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Manages containers &amp; infrastructure-as-code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60520" y="2103120"/>
            <a:ext cx="3566160" cy="210312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70248" y="21945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B4D8"/>
                </a:solidFill>
                <a:latin typeface="Calibri"/>
              </a:rPr>
              <a:t>Required Skills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70248" y="2560320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Jenkins / GitHub Actions / GitLab CI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Docker &amp; Kubernetes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AWS / Azure / GCP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Terraform / Ansible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▸ Prometheus, Grafana, Datadog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0520" y="4343400"/>
            <a:ext cx="3566160" cy="224028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4480560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  <a:latin typeface="Calibri"/>
              </a:rPr>
              <a:t>Contribution to Success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4956048"/>
            <a:ext cx="33375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Reduces time from code to delivery while ensuring reliability. In Agile teams, DevOps enables the frequent, reliable deployments that Scrum sprints require — eliminating 'works on my machine' problems.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0" y="2103120"/>
            <a:ext cx="3977639" cy="448056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240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166"/>
                </a:solidFill>
                <a:latin typeface="Calibri"/>
              </a:rPr>
              <a:t>Real-World Example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272491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  <a:latin typeface="Calibri"/>
              </a:rPr>
              <a:t>Spotify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315468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Spotify's DevOps infrastructure allows 300+ microservices to be independently deployed multiple times per day by autonomous Scrum squads — the DevOps layer is what makes the Spotify model of at-scale Agile actually work.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8D6E5"/>
                </a:solidFill>
                <a:latin typeface="Calibri"/>
              </a:rPr>
              <a:t>23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7160"/>
            <a:ext cx="2194560" cy="4114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  <a:latin typeface="Calibri"/>
              </a:rPr>
              <a:t>SYNTHESIS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11457432" cy="381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7043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How Roles Behave Differently per Process Model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2103120"/>
            <a:ext cx="2286000" cy="475488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" y="216712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Role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7480" y="2103120"/>
            <a:ext cx="2788920" cy="475488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70632" y="2167128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B2A"/>
                </a:solidFill>
                <a:latin typeface="Calibri"/>
              </a:rPr>
              <a:t>Waterfall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2103120"/>
            <a:ext cx="2788920" cy="47548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50992" y="2167128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B2A"/>
                </a:solidFill>
                <a:latin typeface="Calibri"/>
              </a:rPr>
              <a:t>Spiral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58200" y="2103120"/>
            <a:ext cx="3611880" cy="47548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31352" y="2167128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B2A"/>
                </a:solidFill>
                <a:latin typeface="Calibri"/>
              </a:rPr>
              <a:t>Agile (Scrum)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578608"/>
            <a:ext cx="2286000" cy="632968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" y="2670048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Project Manager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97480" y="2578608"/>
            <a:ext cx="2788920" cy="632968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70632" y="2670048"/>
            <a:ext cx="2697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90D9"/>
                </a:solidFill>
                <a:latin typeface="Calibri"/>
              </a:rPr>
              <a:t>Plans full project upfront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77840" y="2578608"/>
            <a:ext cx="2788920" cy="632968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50992" y="2670048"/>
            <a:ext cx="2697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A623"/>
                </a:solidFill>
                <a:latin typeface="Calibri"/>
              </a:rPr>
              <a:t>Manages each spiral cycle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58200" y="2578608"/>
            <a:ext cx="3611880" cy="632968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31352" y="2670048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ECC71"/>
                </a:solidFill>
                <a:latin typeface="Calibri"/>
              </a:rPr>
              <a:t>Scrum Master facilitates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3236976"/>
            <a:ext cx="2286000" cy="632968"/>
          </a:xfrm>
          <a:prstGeom prst="rect">
            <a:avLst/>
          </a:prstGeom>
          <a:solidFill>
            <a:srgbClr val="162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3192" y="3328416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Architect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97480" y="3236976"/>
            <a:ext cx="2788920" cy="632968"/>
          </a:xfrm>
          <a:prstGeom prst="rect">
            <a:avLst/>
          </a:prstGeom>
          <a:solidFill>
            <a:srgbClr val="162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70632" y="3328416"/>
            <a:ext cx="2697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90D9"/>
                </a:solidFill>
                <a:latin typeface="Calibri"/>
              </a:rPr>
              <a:t>Designs full system before coding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77840" y="3236976"/>
            <a:ext cx="2788920" cy="632968"/>
          </a:xfrm>
          <a:prstGeom prst="rect">
            <a:avLst/>
          </a:prstGeom>
          <a:solidFill>
            <a:srgbClr val="162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50992" y="3328416"/>
            <a:ext cx="2697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A623"/>
                </a:solidFill>
                <a:latin typeface="Calibri"/>
              </a:rPr>
              <a:t>Refines architecture each spiral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58200" y="3236976"/>
            <a:ext cx="3611880" cy="632968"/>
          </a:xfrm>
          <a:prstGeom prst="rect">
            <a:avLst/>
          </a:prstGeom>
          <a:solidFill>
            <a:srgbClr val="162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31352" y="3328416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ECC71"/>
                </a:solidFill>
                <a:latin typeface="Calibri"/>
              </a:rPr>
              <a:t>Guides architecture per sprint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3895344"/>
            <a:ext cx="2286000" cy="632968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3192" y="3986784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Developer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697480" y="3895344"/>
            <a:ext cx="2788920" cy="632968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70632" y="3986784"/>
            <a:ext cx="2697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90D9"/>
                </a:solidFill>
                <a:latin typeface="Calibri"/>
              </a:rPr>
              <a:t>Implements entire design at once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77840" y="3895344"/>
            <a:ext cx="2788920" cy="632968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50992" y="3986784"/>
            <a:ext cx="2697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A623"/>
                </a:solidFill>
                <a:latin typeface="Calibri"/>
              </a:rPr>
              <a:t>Builds incrementally per spiral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58200" y="3895344"/>
            <a:ext cx="3611880" cy="632968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31352" y="3986784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ECC71"/>
                </a:solidFill>
                <a:latin typeface="Calibri"/>
              </a:rPr>
              <a:t>Delivers features per sprint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4553712"/>
            <a:ext cx="2286000" cy="632968"/>
          </a:xfrm>
          <a:prstGeom prst="rect">
            <a:avLst/>
          </a:prstGeom>
          <a:solidFill>
            <a:srgbClr val="162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3192" y="464515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QA Engineer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97480" y="4553712"/>
            <a:ext cx="2788920" cy="632968"/>
          </a:xfrm>
          <a:prstGeom prst="rect">
            <a:avLst/>
          </a:prstGeom>
          <a:solidFill>
            <a:srgbClr val="162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70632" y="4645152"/>
            <a:ext cx="2697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90D9"/>
                </a:solidFill>
                <a:latin typeface="Calibri"/>
              </a:rPr>
              <a:t>Tests only at the end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577840" y="4553712"/>
            <a:ext cx="2788920" cy="632968"/>
          </a:xfrm>
          <a:prstGeom prst="rect">
            <a:avLst/>
          </a:prstGeom>
          <a:solidFill>
            <a:srgbClr val="162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50992" y="4645152"/>
            <a:ext cx="2697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A623"/>
                </a:solidFill>
                <a:latin typeface="Calibri"/>
              </a:rPr>
              <a:t>Tests at each spiral evaluation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458200" y="4553712"/>
            <a:ext cx="3611880" cy="632968"/>
          </a:xfrm>
          <a:prstGeom prst="rect">
            <a:avLst/>
          </a:prstGeom>
          <a:solidFill>
            <a:srgbClr val="162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31352" y="4645152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ECC71"/>
                </a:solidFill>
                <a:latin typeface="Calibri"/>
              </a:rPr>
              <a:t>Tests within every sprint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" y="5212080"/>
            <a:ext cx="2286000" cy="632968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93192" y="530352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Business Analyst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697480" y="5212080"/>
            <a:ext cx="2788920" cy="632968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70632" y="5303520"/>
            <a:ext cx="2697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90D9"/>
                </a:solidFill>
                <a:latin typeface="Calibri"/>
              </a:rPr>
              <a:t>Gathers ALL requirements upfront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577840" y="5212080"/>
            <a:ext cx="2788920" cy="632968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650992" y="5303520"/>
            <a:ext cx="2697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A623"/>
                </a:solidFill>
                <a:latin typeface="Calibri"/>
              </a:rPr>
              <a:t>Reviews &amp; refines per spiral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458200" y="5212080"/>
            <a:ext cx="3611880" cy="632968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31352" y="5303520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ECC71"/>
                </a:solidFill>
                <a:latin typeface="Calibri"/>
              </a:rPr>
              <a:t>Writes &amp; refines user stories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0040" y="5870448"/>
            <a:ext cx="2286000" cy="632968"/>
          </a:xfrm>
          <a:prstGeom prst="rect">
            <a:avLst/>
          </a:prstGeom>
          <a:solidFill>
            <a:srgbClr val="162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93192" y="5961888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DevOps Engineer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697480" y="5870448"/>
            <a:ext cx="2788920" cy="632968"/>
          </a:xfrm>
          <a:prstGeom prst="rect">
            <a:avLst/>
          </a:prstGeom>
          <a:solidFill>
            <a:srgbClr val="162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770632" y="5961888"/>
            <a:ext cx="2697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90D9"/>
                </a:solidFill>
                <a:latin typeface="Calibri"/>
              </a:rPr>
              <a:t>Manages single final deployment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77840" y="5870448"/>
            <a:ext cx="2788920" cy="632968"/>
          </a:xfrm>
          <a:prstGeom prst="rect">
            <a:avLst/>
          </a:prstGeom>
          <a:solidFill>
            <a:srgbClr val="162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50992" y="5961888"/>
            <a:ext cx="2697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A623"/>
                </a:solidFill>
                <a:latin typeface="Calibri"/>
              </a:rPr>
              <a:t>Supports multiple prototypes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458200" y="5870448"/>
            <a:ext cx="3611880" cy="632968"/>
          </a:xfrm>
          <a:prstGeom prst="rect">
            <a:avLst/>
          </a:prstGeom>
          <a:solidFill>
            <a:srgbClr val="162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531352" y="5961888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ECC71"/>
                </a:solidFill>
                <a:latin typeface="Calibri"/>
              </a:rPr>
              <a:t>Automates continuous delivery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8D6E5"/>
                </a:solidFill>
                <a:latin typeface="Calibri"/>
              </a:rPr>
              <a:t>24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7160"/>
            <a:ext cx="2194560" cy="4114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  <a:latin typeface="Calibri"/>
              </a:rPr>
              <a:t>CONCLUSION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11457432" cy="381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7043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Key Takeaways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2194560"/>
            <a:ext cx="3749039" cy="425196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2194560"/>
            <a:ext cx="3749039" cy="508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331720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4A90D9"/>
                </a:solidFill>
                <a:latin typeface="Calibri"/>
              </a:rPr>
              <a:t>Process Models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34640"/>
            <a:ext cx="35204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No single model is universally best — context decides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Waterfall: structure &amp; documentation for stable requirements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Spiral: risk management for large, complex, critical systems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Agile (Scrum): speed &amp; flexibility for evolving products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0248" y="2194560"/>
            <a:ext cx="3749039" cy="425196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70248" y="2194560"/>
            <a:ext cx="3749039" cy="508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7408" y="2331720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ECC71"/>
                </a:solidFill>
                <a:latin typeface="Calibri"/>
              </a:rPr>
              <a:t>Team Roles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2834640"/>
            <a:ext cx="35204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Every role is essential — removing one creates blind spots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Roles interact differently depending on the chosen model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Strong collaboration between roles is more important than tools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People and culture determine project success more than process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0456" y="2194560"/>
            <a:ext cx="3749039" cy="425196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0456" y="2194560"/>
            <a:ext cx="3749039" cy="508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7616" y="2331720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5A623"/>
                </a:solidFill>
                <a:latin typeface="Calibri"/>
              </a:rPr>
              <a:t>Model ↔ Project 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34640"/>
            <a:ext cx="35204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Banking system → Waterfall (regulated, stable requirements)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Mobile startup → Agile/Scrum (speed, flexibility, MVP)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Defense system → Spiral (risk-driven, iterative, large-scale)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▸ Hybrid models are common in real-world projects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71600" y="6400800"/>
            <a:ext cx="9418320" cy="25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6473952"/>
            <a:ext cx="11430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C8D6E5"/>
                </a:solidFill>
                <a:latin typeface="Calibri"/>
              </a:rPr>
              <a:t>"Software is built by people. Process models are only as good as the team that follows them."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8D6E5"/>
                </a:solidFill>
                <a:latin typeface="Calibri"/>
              </a:rPr>
              <a:t>25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651760"/>
            <a:ext cx="12188952" cy="16916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164592" cy="16916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54864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00B4D8"/>
                </a:solidFill>
                <a:latin typeface="Calibri"/>
              </a:rPr>
              <a:t>Thank You!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463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0" y="2057400"/>
            <a:ext cx="3931920" cy="381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301752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Software Engineering  |  Group Assignment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977639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8D6E5"/>
                </a:solidFill>
                <a:latin typeface="Calibri"/>
              </a:rPr>
              <a:t>References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407408"/>
            <a:ext cx="11430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6E5"/>
                </a:solidFill>
                <a:latin typeface="Calibri"/>
              </a:rPr>
              <a:t>Boehm, B. (1988). A Spiral Model of Software Development. IEEE Computer.  |  Schwaber &amp; Sutherland (2020). The Scrum Guide.  |  Royce, W. (1970). Managing Large Software Systems. IEEE WESCON.  |  Standish Group (2023). CHAOS Report.  |  Beck et al. (2001). Manifesto for Agile Software Development.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5715000"/>
            <a:ext cx="11430000" cy="25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58521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6E5"/>
                </a:solidFill>
                <a:latin typeface="Calibri"/>
              </a:rPr>
              <a:t>Software Engineering  |  Group Assignment 2  |  March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